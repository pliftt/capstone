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swald Bold" charset="1" panose="00000800000000000000"/>
      <p:regular r:id="rId18"/>
    </p:embeddedFont>
    <p:embeddedFont>
      <p:font typeface="Aileron" charset="1" panose="00000500000000000000"/>
      <p:regular r:id="rId19"/>
    </p:embeddedFont>
    <p:embeddedFont>
      <p:font typeface="Aileron Bold" charset="1" panose="00000800000000000000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Relationship Id="rId8" Target="https://docs.google.com/spreadsheets/d/1JPtX4P0227SeJvf2ky5b3jxQuMH1Xx21L4ErGYt83BA/edit?usp=sharing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Relationship Id="rId8" Target="https://docs.google.com/spreadsheets/d/17TyLwUZxCnaFHjP29YNHJtjsNY_4bvmS/edit?usp=sharing&amp;ouid=116751535093923099521&amp;rtpof=true&amp;sd=true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Relationship Id="rId8" Target="https://docs.google.com/spreadsheets/d/1dq_yfulMgezDSpcSp7AbHHFe6PWV7UFL/edit?usp=sharing&amp;ouid=116751535093923099521&amp;rtpof=true&amp;sd=true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4.jpeg" Type="http://schemas.openxmlformats.org/officeDocument/2006/relationships/image"/><Relationship Id="rId4" Target="../media/VAG2RzViTn8.mp4" Type="http://schemas.openxmlformats.org/officeDocument/2006/relationships/video"/><Relationship Id="rId5" Target="../media/VAG2RzViTn8.mp4" Type="http://schemas.microsoft.com/office/2007/relationships/media"/><Relationship Id="rId6" Target="../media/image15.jpeg" Type="http://schemas.openxmlformats.org/officeDocument/2006/relationships/image"/><Relationship Id="rId7" Target="../media/VAG2RwSSIcE.mp4" Type="http://schemas.openxmlformats.org/officeDocument/2006/relationships/video"/><Relationship Id="rId8" Target="../media/VAG2RwSSIcE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27254" y="9492469"/>
            <a:ext cx="8269787" cy="581773"/>
            <a:chOff x="0" y="0"/>
            <a:chExt cx="1693959" cy="1191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3959" cy="119169"/>
            </a:xfrm>
            <a:custGeom>
              <a:avLst/>
              <a:gdLst/>
              <a:ahLst/>
              <a:cxnLst/>
              <a:rect r="r" b="b" t="t" l="l"/>
              <a:pathLst>
                <a:path h="119169" w="1693959">
                  <a:moveTo>
                    <a:pt x="1490759" y="0"/>
                  </a:moveTo>
                  <a:lnTo>
                    <a:pt x="0" y="0"/>
                  </a:lnTo>
                  <a:lnTo>
                    <a:pt x="203200" y="119169"/>
                  </a:lnTo>
                  <a:lnTo>
                    <a:pt x="1693959" y="119169"/>
                  </a:lnTo>
                  <a:lnTo>
                    <a:pt x="149075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2525">
                    <a:alpha val="100000"/>
                  </a:srgbClr>
                </a:gs>
                <a:gs pos="100000">
                  <a:srgbClr val="59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1490759" cy="157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1377632" y="-268490"/>
            <a:ext cx="7136751" cy="6084080"/>
          </a:xfrm>
          <a:custGeom>
            <a:avLst/>
            <a:gdLst/>
            <a:ahLst/>
            <a:cxnLst/>
            <a:rect r="r" b="b" t="t" l="l"/>
            <a:pathLst>
              <a:path h="6084080" w="7136751">
                <a:moveTo>
                  <a:pt x="7136750" y="0"/>
                </a:moveTo>
                <a:lnTo>
                  <a:pt x="0" y="0"/>
                </a:lnTo>
                <a:lnTo>
                  <a:pt x="0" y="6084079"/>
                </a:lnTo>
                <a:lnTo>
                  <a:pt x="7136750" y="6084079"/>
                </a:lnTo>
                <a:lnTo>
                  <a:pt x="713675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5184742" y="5579102"/>
            <a:ext cx="576936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true" flipV="true" rot="0">
            <a:off x="8976770" y="4639641"/>
            <a:ext cx="6755835" cy="6215368"/>
          </a:xfrm>
          <a:custGeom>
            <a:avLst/>
            <a:gdLst/>
            <a:ahLst/>
            <a:cxnLst/>
            <a:rect r="r" b="b" t="t" l="l"/>
            <a:pathLst>
              <a:path h="6215368" w="6755835">
                <a:moveTo>
                  <a:pt x="6755835" y="6215368"/>
                </a:moveTo>
                <a:lnTo>
                  <a:pt x="0" y="6215368"/>
                </a:lnTo>
                <a:lnTo>
                  <a:pt x="0" y="0"/>
                </a:lnTo>
                <a:lnTo>
                  <a:pt x="6755835" y="0"/>
                </a:lnTo>
                <a:lnTo>
                  <a:pt x="6755835" y="621536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613415" y="4834070"/>
            <a:ext cx="7349169" cy="8551761"/>
            <a:chOff x="0" y="0"/>
            <a:chExt cx="6985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2525">
                    <a:alpha val="100000"/>
                  </a:srgbClr>
                </a:gs>
                <a:gs pos="100000">
                  <a:srgbClr val="59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10131" y="867620"/>
            <a:ext cx="7349169" cy="8551761"/>
            <a:chOff x="0" y="0"/>
            <a:chExt cx="6985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2525">
                    <a:alpha val="100000"/>
                  </a:srgbClr>
                </a:gs>
                <a:gs pos="100000">
                  <a:srgbClr val="59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184742" y="5486633"/>
            <a:ext cx="184939" cy="18493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602374" y="5486633"/>
            <a:ext cx="184939" cy="18493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252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307276" y="5486633"/>
            <a:ext cx="184939" cy="18493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52069" y="173841"/>
            <a:ext cx="3471508" cy="854859"/>
          </a:xfrm>
          <a:custGeom>
            <a:avLst/>
            <a:gdLst/>
            <a:ahLst/>
            <a:cxnLst/>
            <a:rect r="r" b="b" t="t" l="l"/>
            <a:pathLst>
              <a:path h="854859" w="3471508">
                <a:moveTo>
                  <a:pt x="0" y="0"/>
                </a:moveTo>
                <a:lnTo>
                  <a:pt x="3471508" y="0"/>
                </a:lnTo>
                <a:lnTo>
                  <a:pt x="3471508" y="854859"/>
                </a:lnTo>
                <a:lnTo>
                  <a:pt x="0" y="8548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3593510"/>
            <a:ext cx="7595757" cy="154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2"/>
              </a:lnSpc>
            </a:pPr>
            <a:r>
              <a:rPr lang="en-US" sz="9101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PLIFT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2045265"/>
            <a:ext cx="7595757" cy="155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2"/>
              </a:lnSpc>
            </a:pPr>
            <a:r>
              <a:rPr lang="en-US" sz="9101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PROYECTO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242532" y="2045265"/>
            <a:ext cx="1874244" cy="155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2"/>
              </a:lnSpc>
            </a:pPr>
            <a:r>
              <a:rPr lang="en-US" sz="9101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APT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2084" y="6172342"/>
            <a:ext cx="4637596" cy="339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1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</a:t>
            </a:r>
            <a:r>
              <a:rPr lang="en-US" sz="2146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ntegrantes: </a:t>
            </a:r>
          </a:p>
          <a:p>
            <a:pPr algn="l" marL="463347" indent="-231673" lvl="1">
              <a:lnSpc>
                <a:spcPts val="3004"/>
              </a:lnSpc>
              <a:buFont typeface="Arial"/>
              <a:buChar char="•"/>
            </a:pPr>
            <a:r>
              <a:rPr lang="en-US" sz="21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Alonso Barrera Silva</a:t>
            </a:r>
          </a:p>
          <a:p>
            <a:pPr algn="l" marL="463347" indent="-231673" lvl="1">
              <a:lnSpc>
                <a:spcPts val="3004"/>
              </a:lnSpc>
              <a:buFont typeface="Arial"/>
              <a:buChar char="•"/>
            </a:pPr>
            <a:r>
              <a:rPr lang="en-US" sz="21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Germán Macías Hernández </a:t>
            </a:r>
          </a:p>
          <a:p>
            <a:pPr algn="l" marL="463347" indent="-231673" lvl="1">
              <a:lnSpc>
                <a:spcPts val="3004"/>
              </a:lnSpc>
              <a:buFont typeface="Arial"/>
              <a:buChar char="•"/>
            </a:pPr>
            <a:r>
              <a:rPr lang="en-US" sz="21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Matías Muñoz Lillo</a:t>
            </a:r>
          </a:p>
          <a:p>
            <a:pPr algn="l" marL="463347" indent="-231673" lvl="1">
              <a:lnSpc>
                <a:spcPts val="3004"/>
              </a:lnSpc>
              <a:buFont typeface="Arial"/>
              <a:buChar char="•"/>
            </a:pPr>
            <a:r>
              <a:rPr lang="en-US" sz="21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Danae Venegas Maldonado</a:t>
            </a:r>
          </a:p>
          <a:p>
            <a:pPr algn="l">
              <a:lnSpc>
                <a:spcPts val="3004"/>
              </a:lnSpc>
            </a:pPr>
          </a:p>
          <a:p>
            <a:pPr algn="l">
              <a:lnSpc>
                <a:spcPts val="3004"/>
              </a:lnSpc>
            </a:pPr>
            <a:r>
              <a:rPr lang="en-US" sz="2146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Profesor:</a:t>
            </a:r>
          </a:p>
          <a:p>
            <a:pPr algn="l" marL="463347" indent="-231673" lvl="1">
              <a:lnSpc>
                <a:spcPts val="3004"/>
              </a:lnSpc>
              <a:buFont typeface="Arial"/>
              <a:buChar char="•"/>
            </a:pPr>
            <a:r>
              <a:rPr lang="en-US" sz="21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Aldo Martínez Ordenes</a:t>
            </a:r>
          </a:p>
          <a:p>
            <a:pPr algn="l">
              <a:lnSpc>
                <a:spcPts val="2724"/>
              </a:lnSpc>
            </a:pP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568965" y="1127750"/>
            <a:ext cx="8031500" cy="8031500"/>
          </a:xfrm>
          <a:custGeom>
            <a:avLst/>
            <a:gdLst/>
            <a:ahLst/>
            <a:cxnLst/>
            <a:rect r="r" b="b" t="t" l="l"/>
            <a:pathLst>
              <a:path h="8031500" w="8031500">
                <a:moveTo>
                  <a:pt x="0" y="0"/>
                </a:moveTo>
                <a:lnTo>
                  <a:pt x="8031500" y="0"/>
                </a:lnTo>
                <a:lnTo>
                  <a:pt x="8031500" y="8031500"/>
                </a:lnTo>
                <a:lnTo>
                  <a:pt x="0" y="8031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840743" y="-864380"/>
            <a:ext cx="7136751" cy="6084080"/>
          </a:xfrm>
          <a:custGeom>
            <a:avLst/>
            <a:gdLst/>
            <a:ahLst/>
            <a:cxnLst/>
            <a:rect r="r" b="b" t="t" l="l"/>
            <a:pathLst>
              <a:path h="6084080" w="7136751">
                <a:moveTo>
                  <a:pt x="7136750" y="0"/>
                </a:moveTo>
                <a:lnTo>
                  <a:pt x="0" y="0"/>
                </a:lnTo>
                <a:lnTo>
                  <a:pt x="0" y="6084080"/>
                </a:lnTo>
                <a:lnTo>
                  <a:pt x="7136750" y="6084080"/>
                </a:lnTo>
                <a:lnTo>
                  <a:pt x="713675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80627" y="374650"/>
            <a:ext cx="2526746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ÍNDICE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27843" y="3695312"/>
            <a:ext cx="5151834" cy="737595"/>
            <a:chOff x="0" y="0"/>
            <a:chExt cx="6869112" cy="98346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869112" cy="983460"/>
              <a:chOff x="0" y="0"/>
              <a:chExt cx="4892601" cy="70048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892601" cy="700480"/>
              </a:xfrm>
              <a:custGeom>
                <a:avLst/>
                <a:gdLst/>
                <a:ahLst/>
                <a:cxnLst/>
                <a:rect r="r" b="b" t="t" l="l"/>
                <a:pathLst>
                  <a:path h="700480" w="4892601">
                    <a:moveTo>
                      <a:pt x="4892601" y="350240"/>
                    </a:moveTo>
                    <a:lnTo>
                      <a:pt x="4689401" y="700480"/>
                    </a:lnTo>
                    <a:lnTo>
                      <a:pt x="203200" y="700480"/>
                    </a:lnTo>
                    <a:lnTo>
                      <a:pt x="0" y="350240"/>
                    </a:lnTo>
                    <a:lnTo>
                      <a:pt x="203200" y="0"/>
                    </a:lnTo>
                    <a:lnTo>
                      <a:pt x="4689401" y="0"/>
                    </a:lnTo>
                    <a:lnTo>
                      <a:pt x="4892601" y="35024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525">
                      <a:alpha val="100000"/>
                    </a:srgbClr>
                  </a:gs>
                  <a:gs pos="100000">
                    <a:srgbClr val="59000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114300" y="-47625"/>
                <a:ext cx="4664001" cy="748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255537" y="192620"/>
              <a:ext cx="659766" cy="595439"/>
            </a:xfrm>
            <a:custGeom>
              <a:avLst/>
              <a:gdLst/>
              <a:ahLst/>
              <a:cxnLst/>
              <a:rect r="r" b="b" t="t" l="l"/>
              <a:pathLst>
                <a:path h="595439" w="659766">
                  <a:moveTo>
                    <a:pt x="0" y="0"/>
                  </a:moveTo>
                  <a:lnTo>
                    <a:pt x="659766" y="0"/>
                  </a:lnTo>
                  <a:lnTo>
                    <a:pt x="659766" y="595439"/>
                  </a:lnTo>
                  <a:lnTo>
                    <a:pt x="0" y="595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912743" y="2542664"/>
            <a:ext cx="5066934" cy="735510"/>
            <a:chOff x="0" y="0"/>
            <a:chExt cx="6755912" cy="98068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755912" cy="980680"/>
              <a:chOff x="0" y="0"/>
              <a:chExt cx="4811973" cy="6985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811973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4811973">
                    <a:moveTo>
                      <a:pt x="4811973" y="349250"/>
                    </a:moveTo>
                    <a:lnTo>
                      <a:pt x="4608773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4608773" y="0"/>
                    </a:lnTo>
                    <a:lnTo>
                      <a:pt x="4811973" y="3492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525">
                      <a:alpha val="100000"/>
                    </a:srgbClr>
                  </a:gs>
                  <a:gs pos="100000">
                    <a:srgbClr val="59000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14300" y="-38100"/>
                <a:ext cx="4583373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55537" y="192620"/>
              <a:ext cx="659766" cy="595439"/>
            </a:xfrm>
            <a:custGeom>
              <a:avLst/>
              <a:gdLst/>
              <a:ahLst/>
              <a:cxnLst/>
              <a:rect r="r" b="b" t="t" l="l"/>
              <a:pathLst>
                <a:path h="595439" w="659766">
                  <a:moveTo>
                    <a:pt x="0" y="0"/>
                  </a:moveTo>
                  <a:lnTo>
                    <a:pt x="659766" y="0"/>
                  </a:lnTo>
                  <a:lnTo>
                    <a:pt x="659766" y="595439"/>
                  </a:lnTo>
                  <a:lnTo>
                    <a:pt x="0" y="595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089951" y="210940"/>
              <a:ext cx="5665961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Contexto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93223" y="3697397"/>
            <a:ext cx="5066934" cy="735510"/>
            <a:chOff x="0" y="0"/>
            <a:chExt cx="6755912" cy="98068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755912" cy="980680"/>
              <a:chOff x="0" y="0"/>
              <a:chExt cx="4811973" cy="698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811973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4811973">
                    <a:moveTo>
                      <a:pt x="4811973" y="349250"/>
                    </a:moveTo>
                    <a:lnTo>
                      <a:pt x="4608773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4608773" y="0"/>
                    </a:lnTo>
                    <a:lnTo>
                      <a:pt x="4811973" y="3492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525">
                      <a:alpha val="100000"/>
                    </a:srgbClr>
                  </a:gs>
                  <a:gs pos="100000">
                    <a:srgbClr val="59000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14300" y="-38100"/>
                <a:ext cx="4583373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255537" y="192620"/>
              <a:ext cx="659766" cy="595439"/>
            </a:xfrm>
            <a:custGeom>
              <a:avLst/>
              <a:gdLst/>
              <a:ahLst/>
              <a:cxnLst/>
              <a:rect r="r" b="b" t="t" l="l"/>
              <a:pathLst>
                <a:path h="595439" w="659766">
                  <a:moveTo>
                    <a:pt x="0" y="0"/>
                  </a:moveTo>
                  <a:lnTo>
                    <a:pt x="659766" y="0"/>
                  </a:lnTo>
                  <a:lnTo>
                    <a:pt x="659766" y="595439"/>
                  </a:lnTo>
                  <a:lnTo>
                    <a:pt x="0" y="595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393223" y="4852007"/>
            <a:ext cx="5066934" cy="735510"/>
            <a:chOff x="0" y="0"/>
            <a:chExt cx="6755912" cy="98068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755912" cy="980680"/>
              <a:chOff x="0" y="0"/>
              <a:chExt cx="4811973" cy="6985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811973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4811973">
                    <a:moveTo>
                      <a:pt x="4811973" y="349250"/>
                    </a:moveTo>
                    <a:lnTo>
                      <a:pt x="4608773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4608773" y="0"/>
                    </a:lnTo>
                    <a:lnTo>
                      <a:pt x="4811973" y="3492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525">
                      <a:alpha val="100000"/>
                    </a:srgbClr>
                  </a:gs>
                  <a:gs pos="100000">
                    <a:srgbClr val="59000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14300" y="-38100"/>
                <a:ext cx="4583373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255537" y="192620"/>
              <a:ext cx="659766" cy="595439"/>
            </a:xfrm>
            <a:custGeom>
              <a:avLst/>
              <a:gdLst/>
              <a:ahLst/>
              <a:cxnLst/>
              <a:rect r="r" b="b" t="t" l="l"/>
              <a:pathLst>
                <a:path h="595439" w="659766">
                  <a:moveTo>
                    <a:pt x="0" y="0"/>
                  </a:moveTo>
                  <a:lnTo>
                    <a:pt x="659766" y="0"/>
                  </a:lnTo>
                  <a:lnTo>
                    <a:pt x="659766" y="595439"/>
                  </a:lnTo>
                  <a:lnTo>
                    <a:pt x="0" y="595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912743" y="4849922"/>
            <a:ext cx="5066934" cy="735510"/>
            <a:chOff x="0" y="0"/>
            <a:chExt cx="6755912" cy="98068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755912" cy="980680"/>
              <a:chOff x="0" y="0"/>
              <a:chExt cx="4811973" cy="698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811973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4811973">
                    <a:moveTo>
                      <a:pt x="4811973" y="349250"/>
                    </a:moveTo>
                    <a:lnTo>
                      <a:pt x="4608773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4608773" y="0"/>
                    </a:lnTo>
                    <a:lnTo>
                      <a:pt x="4811973" y="3492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525">
                      <a:alpha val="100000"/>
                    </a:srgbClr>
                  </a:gs>
                  <a:gs pos="100000">
                    <a:srgbClr val="59000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14300" y="-38100"/>
                <a:ext cx="4583373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255537" y="192620"/>
              <a:ext cx="659766" cy="595439"/>
            </a:xfrm>
            <a:custGeom>
              <a:avLst/>
              <a:gdLst/>
              <a:ahLst/>
              <a:cxnLst/>
              <a:rect r="r" b="b" t="t" l="l"/>
              <a:pathLst>
                <a:path h="595439" w="659766">
                  <a:moveTo>
                    <a:pt x="0" y="0"/>
                  </a:moveTo>
                  <a:lnTo>
                    <a:pt x="659766" y="0"/>
                  </a:lnTo>
                  <a:lnTo>
                    <a:pt x="659766" y="595439"/>
                  </a:lnTo>
                  <a:lnTo>
                    <a:pt x="0" y="595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true" rot="0">
            <a:off x="0" y="6417750"/>
            <a:ext cx="4205707" cy="3869250"/>
          </a:xfrm>
          <a:custGeom>
            <a:avLst/>
            <a:gdLst/>
            <a:ahLst/>
            <a:cxnLst/>
            <a:rect r="r" b="b" t="t" l="l"/>
            <a:pathLst>
              <a:path h="3869250" w="4205707">
                <a:moveTo>
                  <a:pt x="0" y="3869250"/>
                </a:moveTo>
                <a:lnTo>
                  <a:pt x="4205707" y="3869250"/>
                </a:lnTo>
                <a:lnTo>
                  <a:pt x="4205707" y="0"/>
                </a:lnTo>
                <a:lnTo>
                  <a:pt x="0" y="0"/>
                </a:lnTo>
                <a:lnTo>
                  <a:pt x="0" y="386925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0393223" y="6006616"/>
            <a:ext cx="5066934" cy="735510"/>
            <a:chOff x="0" y="0"/>
            <a:chExt cx="6755912" cy="98068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6755912" cy="980680"/>
              <a:chOff x="0" y="0"/>
              <a:chExt cx="4811973" cy="6985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811973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4811973">
                    <a:moveTo>
                      <a:pt x="4811973" y="349250"/>
                    </a:moveTo>
                    <a:lnTo>
                      <a:pt x="4608773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4608773" y="0"/>
                    </a:lnTo>
                    <a:lnTo>
                      <a:pt x="4811973" y="3492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525">
                      <a:alpha val="100000"/>
                    </a:srgbClr>
                  </a:gs>
                  <a:gs pos="100000">
                    <a:srgbClr val="59000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14300" y="-38100"/>
                <a:ext cx="4583373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255537" y="192620"/>
              <a:ext cx="659766" cy="595439"/>
            </a:xfrm>
            <a:custGeom>
              <a:avLst/>
              <a:gdLst/>
              <a:ahLst/>
              <a:cxnLst/>
              <a:rect r="r" b="b" t="t" l="l"/>
              <a:pathLst>
                <a:path h="595439" w="659766">
                  <a:moveTo>
                    <a:pt x="0" y="0"/>
                  </a:moveTo>
                  <a:lnTo>
                    <a:pt x="659766" y="0"/>
                  </a:lnTo>
                  <a:lnTo>
                    <a:pt x="659766" y="595439"/>
                  </a:lnTo>
                  <a:lnTo>
                    <a:pt x="0" y="595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2955193" y="7161226"/>
            <a:ext cx="5066934" cy="735510"/>
            <a:chOff x="0" y="0"/>
            <a:chExt cx="6755912" cy="98068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6755912" cy="980680"/>
              <a:chOff x="0" y="0"/>
              <a:chExt cx="4811973" cy="6985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811973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4811973">
                    <a:moveTo>
                      <a:pt x="4811973" y="349250"/>
                    </a:moveTo>
                    <a:lnTo>
                      <a:pt x="4608773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4608773" y="0"/>
                    </a:lnTo>
                    <a:lnTo>
                      <a:pt x="4811973" y="3492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525">
                      <a:alpha val="100000"/>
                    </a:srgbClr>
                  </a:gs>
                  <a:gs pos="100000">
                    <a:srgbClr val="59000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14300" y="-38100"/>
                <a:ext cx="4583373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0" id="40"/>
            <p:cNvSpPr/>
            <p:nvPr/>
          </p:nvSpPr>
          <p:spPr>
            <a:xfrm flipH="false" flipV="false" rot="0">
              <a:off x="255537" y="192620"/>
              <a:ext cx="659766" cy="595439"/>
            </a:xfrm>
            <a:custGeom>
              <a:avLst/>
              <a:gdLst/>
              <a:ahLst/>
              <a:cxnLst/>
              <a:rect r="r" b="b" t="t" l="l"/>
              <a:pathLst>
                <a:path h="595439" w="659766">
                  <a:moveTo>
                    <a:pt x="0" y="0"/>
                  </a:moveTo>
                  <a:lnTo>
                    <a:pt x="659766" y="0"/>
                  </a:lnTo>
                  <a:lnTo>
                    <a:pt x="659766" y="595439"/>
                  </a:lnTo>
                  <a:lnTo>
                    <a:pt x="0" y="595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870293" y="6004532"/>
            <a:ext cx="5151834" cy="737595"/>
            <a:chOff x="0" y="0"/>
            <a:chExt cx="6869112" cy="98346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6869112" cy="983460"/>
              <a:chOff x="0" y="0"/>
              <a:chExt cx="4892601" cy="70048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892601" cy="700480"/>
              </a:xfrm>
              <a:custGeom>
                <a:avLst/>
                <a:gdLst/>
                <a:ahLst/>
                <a:cxnLst/>
                <a:rect r="r" b="b" t="t" l="l"/>
                <a:pathLst>
                  <a:path h="700480" w="4892601">
                    <a:moveTo>
                      <a:pt x="4892601" y="350240"/>
                    </a:moveTo>
                    <a:lnTo>
                      <a:pt x="4689401" y="700480"/>
                    </a:lnTo>
                    <a:lnTo>
                      <a:pt x="203200" y="700480"/>
                    </a:lnTo>
                    <a:lnTo>
                      <a:pt x="0" y="350240"/>
                    </a:lnTo>
                    <a:lnTo>
                      <a:pt x="203200" y="0"/>
                    </a:lnTo>
                    <a:lnTo>
                      <a:pt x="4689401" y="0"/>
                    </a:lnTo>
                    <a:lnTo>
                      <a:pt x="4892601" y="35024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525">
                      <a:alpha val="100000"/>
                    </a:srgbClr>
                  </a:gs>
                  <a:gs pos="100000">
                    <a:srgbClr val="59000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14300" y="-38100"/>
                <a:ext cx="4664001" cy="738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255537" y="192620"/>
              <a:ext cx="659766" cy="595439"/>
            </a:xfrm>
            <a:custGeom>
              <a:avLst/>
              <a:gdLst/>
              <a:ahLst/>
              <a:cxnLst/>
              <a:rect r="r" b="b" t="t" l="l"/>
              <a:pathLst>
                <a:path h="595439" w="659766">
                  <a:moveTo>
                    <a:pt x="0" y="0"/>
                  </a:moveTo>
                  <a:lnTo>
                    <a:pt x="659766" y="0"/>
                  </a:lnTo>
                  <a:lnTo>
                    <a:pt x="659766" y="595439"/>
                  </a:lnTo>
                  <a:lnTo>
                    <a:pt x="0" y="595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393223" y="7161226"/>
            <a:ext cx="5066934" cy="735510"/>
            <a:chOff x="0" y="0"/>
            <a:chExt cx="6755912" cy="98068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6755912" cy="980680"/>
              <a:chOff x="0" y="0"/>
              <a:chExt cx="4811973" cy="6985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4811973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4811973">
                    <a:moveTo>
                      <a:pt x="4811973" y="349250"/>
                    </a:moveTo>
                    <a:lnTo>
                      <a:pt x="4608773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4608773" y="0"/>
                    </a:lnTo>
                    <a:lnTo>
                      <a:pt x="4811973" y="3492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525">
                      <a:alpha val="100000"/>
                    </a:srgbClr>
                  </a:gs>
                  <a:gs pos="100000">
                    <a:srgbClr val="59000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114300" y="-38100"/>
                <a:ext cx="4583373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50" id="50"/>
            <p:cNvSpPr/>
            <p:nvPr/>
          </p:nvSpPr>
          <p:spPr>
            <a:xfrm flipH="false" flipV="false" rot="0">
              <a:off x="255537" y="192620"/>
              <a:ext cx="659766" cy="595439"/>
            </a:xfrm>
            <a:custGeom>
              <a:avLst/>
              <a:gdLst/>
              <a:ahLst/>
              <a:cxnLst/>
              <a:rect r="r" b="b" t="t" l="l"/>
              <a:pathLst>
                <a:path h="595439" w="659766">
                  <a:moveTo>
                    <a:pt x="0" y="0"/>
                  </a:moveTo>
                  <a:lnTo>
                    <a:pt x="659766" y="0"/>
                  </a:lnTo>
                  <a:lnTo>
                    <a:pt x="659766" y="595439"/>
                  </a:lnTo>
                  <a:lnTo>
                    <a:pt x="0" y="595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3645306" y="3879414"/>
            <a:ext cx="424947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Sprint Planning Inicial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730206" y="5034024"/>
            <a:ext cx="424947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Sprint Planning Actual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687756" y="6187591"/>
            <a:ext cx="424947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Motivos de los Cambios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772656" y="7343244"/>
            <a:ext cx="424947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Arquitectura Actual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210686" y="3879414"/>
            <a:ext cx="424947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Plan de Respuesta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210686" y="5031939"/>
            <a:ext cx="424947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Modelo de Negocio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210686" y="6188634"/>
            <a:ext cx="424947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Video Avance PLift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210686" y="7341159"/>
            <a:ext cx="424947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Conclusión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0393223" y="2542664"/>
            <a:ext cx="5066934" cy="735510"/>
            <a:chOff x="0" y="0"/>
            <a:chExt cx="6755912" cy="980680"/>
          </a:xfrm>
        </p:grpSpPr>
        <p:grpSp>
          <p:nvGrpSpPr>
            <p:cNvPr name="Group 60" id="60"/>
            <p:cNvGrpSpPr/>
            <p:nvPr/>
          </p:nvGrpSpPr>
          <p:grpSpPr>
            <a:xfrm rot="0">
              <a:off x="0" y="0"/>
              <a:ext cx="6755912" cy="980680"/>
              <a:chOff x="0" y="0"/>
              <a:chExt cx="4811973" cy="6985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4811973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4811973">
                    <a:moveTo>
                      <a:pt x="4811973" y="349250"/>
                    </a:moveTo>
                    <a:lnTo>
                      <a:pt x="4608773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4608773" y="0"/>
                    </a:lnTo>
                    <a:lnTo>
                      <a:pt x="4811973" y="34925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2525">
                      <a:alpha val="100000"/>
                    </a:srgbClr>
                  </a:gs>
                  <a:gs pos="100000">
                    <a:srgbClr val="59000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14300" y="-38100"/>
                <a:ext cx="4583373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3" id="63"/>
            <p:cNvSpPr/>
            <p:nvPr/>
          </p:nvSpPr>
          <p:spPr>
            <a:xfrm flipH="false" flipV="false" rot="0">
              <a:off x="255537" y="192620"/>
              <a:ext cx="659766" cy="595439"/>
            </a:xfrm>
            <a:custGeom>
              <a:avLst/>
              <a:gdLst/>
              <a:ahLst/>
              <a:cxnLst/>
              <a:rect r="r" b="b" t="t" l="l"/>
              <a:pathLst>
                <a:path h="595439" w="659766">
                  <a:moveTo>
                    <a:pt x="0" y="0"/>
                  </a:moveTo>
                  <a:lnTo>
                    <a:pt x="659766" y="0"/>
                  </a:lnTo>
                  <a:lnTo>
                    <a:pt x="659766" y="595439"/>
                  </a:lnTo>
                  <a:lnTo>
                    <a:pt x="0" y="595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1210686" y="2725847"/>
            <a:ext cx="424947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Plan de Gestión de Riesgos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840743" y="-864380"/>
            <a:ext cx="7136751" cy="6084080"/>
          </a:xfrm>
          <a:custGeom>
            <a:avLst/>
            <a:gdLst/>
            <a:ahLst/>
            <a:cxnLst/>
            <a:rect r="r" b="b" t="t" l="l"/>
            <a:pathLst>
              <a:path h="6084080" w="7136751">
                <a:moveTo>
                  <a:pt x="7136750" y="0"/>
                </a:moveTo>
                <a:lnTo>
                  <a:pt x="0" y="0"/>
                </a:lnTo>
                <a:lnTo>
                  <a:pt x="0" y="6084080"/>
                </a:lnTo>
                <a:lnTo>
                  <a:pt x="7136750" y="6084080"/>
                </a:lnTo>
                <a:lnTo>
                  <a:pt x="713675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123756" y="4806305"/>
            <a:ext cx="6755835" cy="6215368"/>
          </a:xfrm>
          <a:custGeom>
            <a:avLst/>
            <a:gdLst/>
            <a:ahLst/>
            <a:cxnLst/>
            <a:rect r="r" b="b" t="t" l="l"/>
            <a:pathLst>
              <a:path h="6215368" w="6755835">
                <a:moveTo>
                  <a:pt x="0" y="6215368"/>
                </a:moveTo>
                <a:lnTo>
                  <a:pt x="6755835" y="6215368"/>
                </a:lnTo>
                <a:lnTo>
                  <a:pt x="6755835" y="0"/>
                </a:lnTo>
                <a:lnTo>
                  <a:pt x="0" y="0"/>
                </a:lnTo>
                <a:lnTo>
                  <a:pt x="0" y="621536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897595"/>
            <a:ext cx="7922075" cy="5893755"/>
          </a:xfrm>
          <a:custGeom>
            <a:avLst/>
            <a:gdLst/>
            <a:ahLst/>
            <a:cxnLst/>
            <a:rect r="r" b="b" t="t" l="l"/>
            <a:pathLst>
              <a:path h="5893755" w="7922075">
                <a:moveTo>
                  <a:pt x="0" y="0"/>
                </a:moveTo>
                <a:lnTo>
                  <a:pt x="7922075" y="0"/>
                </a:lnTo>
                <a:lnTo>
                  <a:pt x="7922075" y="5893755"/>
                </a:lnTo>
                <a:lnTo>
                  <a:pt x="0" y="58937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3805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127084" y="993385"/>
            <a:ext cx="569508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CONTEXTO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47901"/>
            <a:ext cx="7632385" cy="4677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3659" indent="-241829" lvl="1">
              <a:lnSpc>
                <a:spcPts val="3136"/>
              </a:lnSpc>
              <a:buFont typeface="Arial"/>
              <a:buChar char="•"/>
            </a:pPr>
            <a:r>
              <a:rPr lang="en-US" sz="22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 powerlifting busca maximizar la carga total en sentadilla, press de banca y peso muerto, ya sea en competencia o en la persecución de récords personales. </a:t>
            </a:r>
          </a:p>
          <a:p>
            <a:pPr algn="just">
              <a:lnSpc>
                <a:spcPts val="3136"/>
              </a:lnSpc>
            </a:pPr>
          </a:p>
          <a:p>
            <a:pPr algn="just" marL="483659" indent="-241829" lvl="1">
              <a:lnSpc>
                <a:spcPts val="3136"/>
              </a:lnSpc>
              <a:buFont typeface="Arial"/>
              <a:buChar char="•"/>
            </a:pPr>
            <a:r>
              <a:rPr lang="en-US" sz="22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Nuestra aplicación proporciona a los entrenadores una planificación estructurada y específica para powerlifting, con bloques preconfigurados, seguimiento del progreso y ajustes asistidos por IA según las sensaciones del atleta, para optimizar el rendimiento y reducir la carga operativa de la programación.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840743" y="-864380"/>
            <a:ext cx="7136751" cy="6084080"/>
          </a:xfrm>
          <a:custGeom>
            <a:avLst/>
            <a:gdLst/>
            <a:ahLst/>
            <a:cxnLst/>
            <a:rect r="r" b="b" t="t" l="l"/>
            <a:pathLst>
              <a:path h="6084080" w="7136751">
                <a:moveTo>
                  <a:pt x="7136750" y="0"/>
                </a:moveTo>
                <a:lnTo>
                  <a:pt x="0" y="0"/>
                </a:lnTo>
                <a:lnTo>
                  <a:pt x="0" y="6084080"/>
                </a:lnTo>
                <a:lnTo>
                  <a:pt x="7136750" y="6084080"/>
                </a:lnTo>
                <a:lnTo>
                  <a:pt x="713675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123756" y="4806305"/>
            <a:ext cx="6755835" cy="6215368"/>
          </a:xfrm>
          <a:custGeom>
            <a:avLst/>
            <a:gdLst/>
            <a:ahLst/>
            <a:cxnLst/>
            <a:rect r="r" b="b" t="t" l="l"/>
            <a:pathLst>
              <a:path h="6215368" w="6755835">
                <a:moveTo>
                  <a:pt x="0" y="6215368"/>
                </a:moveTo>
                <a:lnTo>
                  <a:pt x="6755835" y="6215368"/>
                </a:lnTo>
                <a:lnTo>
                  <a:pt x="6755835" y="0"/>
                </a:lnTo>
                <a:lnTo>
                  <a:pt x="0" y="0"/>
                </a:lnTo>
                <a:lnTo>
                  <a:pt x="0" y="621536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hlinkClick r:id="rId8" tooltip="https://docs.google.com/spreadsheets/d/1JPtX4P0227SeJvf2ky5b3jxQuMH1Xx21L4ErGYt83BA/edit?usp=sharing"/>
          </p:cNvPr>
          <p:cNvSpPr/>
          <p:nvPr/>
        </p:nvSpPr>
        <p:spPr>
          <a:xfrm flipH="false" flipV="false" rot="0">
            <a:off x="6240819" y="2807206"/>
            <a:ext cx="5806362" cy="5806362"/>
          </a:xfrm>
          <a:custGeom>
            <a:avLst/>
            <a:gdLst/>
            <a:ahLst/>
            <a:cxnLst/>
            <a:rect r="r" b="b" t="t" l="l"/>
            <a:pathLst>
              <a:path h="5806362" w="5806362">
                <a:moveTo>
                  <a:pt x="0" y="0"/>
                </a:moveTo>
                <a:lnTo>
                  <a:pt x="5806362" y="0"/>
                </a:lnTo>
                <a:lnTo>
                  <a:pt x="5806362" y="5806362"/>
                </a:lnTo>
                <a:lnTo>
                  <a:pt x="0" y="5806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29085" y="727681"/>
            <a:ext cx="4933103" cy="103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8"/>
              </a:lnSpc>
            </a:pPr>
            <a:r>
              <a:rPr lang="en-US" sz="6063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PLANNING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27681"/>
            <a:ext cx="6200780" cy="103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8"/>
              </a:lnSpc>
            </a:pPr>
            <a:r>
              <a:rPr lang="en-US" sz="6063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SPRINT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774340"/>
            <a:ext cx="4392224" cy="103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8"/>
              </a:lnSpc>
            </a:pPr>
            <a:r>
              <a:rPr lang="en-US" sz="6063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PLAN INICIAL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840743" y="-864380"/>
            <a:ext cx="7136751" cy="6084080"/>
          </a:xfrm>
          <a:custGeom>
            <a:avLst/>
            <a:gdLst/>
            <a:ahLst/>
            <a:cxnLst/>
            <a:rect r="r" b="b" t="t" l="l"/>
            <a:pathLst>
              <a:path h="6084080" w="7136751">
                <a:moveTo>
                  <a:pt x="7136750" y="0"/>
                </a:moveTo>
                <a:lnTo>
                  <a:pt x="0" y="0"/>
                </a:lnTo>
                <a:lnTo>
                  <a:pt x="0" y="6084080"/>
                </a:lnTo>
                <a:lnTo>
                  <a:pt x="7136750" y="6084080"/>
                </a:lnTo>
                <a:lnTo>
                  <a:pt x="713675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123756" y="4806305"/>
            <a:ext cx="6755835" cy="6215368"/>
          </a:xfrm>
          <a:custGeom>
            <a:avLst/>
            <a:gdLst/>
            <a:ahLst/>
            <a:cxnLst/>
            <a:rect r="r" b="b" t="t" l="l"/>
            <a:pathLst>
              <a:path h="6215368" w="6755835">
                <a:moveTo>
                  <a:pt x="0" y="6215368"/>
                </a:moveTo>
                <a:lnTo>
                  <a:pt x="6755835" y="6215368"/>
                </a:lnTo>
                <a:lnTo>
                  <a:pt x="6755835" y="0"/>
                </a:lnTo>
                <a:lnTo>
                  <a:pt x="0" y="0"/>
                </a:lnTo>
                <a:lnTo>
                  <a:pt x="0" y="621536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hlinkClick r:id="rId8" tooltip="https://docs.google.com/spreadsheets/d/17TyLwUZxCnaFHjP29YNHJtjsNY_4bvmS/edit?usp=sharing&amp;ouid=116751535093923099521&amp;rtpof=true&amp;sd=true"/>
          </p:cNvPr>
          <p:cNvSpPr/>
          <p:nvPr/>
        </p:nvSpPr>
        <p:spPr>
          <a:xfrm flipH="false" flipV="false" rot="0">
            <a:off x="6237281" y="2781997"/>
            <a:ext cx="5813437" cy="5813437"/>
          </a:xfrm>
          <a:custGeom>
            <a:avLst/>
            <a:gdLst/>
            <a:ahLst/>
            <a:cxnLst/>
            <a:rect r="r" b="b" t="t" l="l"/>
            <a:pathLst>
              <a:path h="5813437" w="5813437">
                <a:moveTo>
                  <a:pt x="0" y="0"/>
                </a:moveTo>
                <a:lnTo>
                  <a:pt x="5813438" y="0"/>
                </a:lnTo>
                <a:lnTo>
                  <a:pt x="5813438" y="5813437"/>
                </a:lnTo>
                <a:lnTo>
                  <a:pt x="0" y="58134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28189" y="727681"/>
            <a:ext cx="4931336" cy="103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5"/>
              </a:lnSpc>
            </a:pPr>
            <a:r>
              <a:rPr lang="en-US" sz="6061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PLANNING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27681"/>
            <a:ext cx="6198559" cy="103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5"/>
              </a:lnSpc>
            </a:pPr>
            <a:r>
              <a:rPr lang="en-US" sz="6061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SPRINT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749460"/>
            <a:ext cx="4390651" cy="103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5"/>
              </a:lnSpc>
            </a:pPr>
            <a:r>
              <a:rPr lang="en-US" sz="6061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PLAN ACTUAL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840743" y="-864380"/>
            <a:ext cx="7136751" cy="6084080"/>
          </a:xfrm>
          <a:custGeom>
            <a:avLst/>
            <a:gdLst/>
            <a:ahLst/>
            <a:cxnLst/>
            <a:rect r="r" b="b" t="t" l="l"/>
            <a:pathLst>
              <a:path h="6084080" w="7136751">
                <a:moveTo>
                  <a:pt x="7136750" y="0"/>
                </a:moveTo>
                <a:lnTo>
                  <a:pt x="0" y="0"/>
                </a:lnTo>
                <a:lnTo>
                  <a:pt x="0" y="6084080"/>
                </a:lnTo>
                <a:lnTo>
                  <a:pt x="7136750" y="6084080"/>
                </a:lnTo>
                <a:lnTo>
                  <a:pt x="713675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123756" y="4806305"/>
            <a:ext cx="6755835" cy="6215368"/>
          </a:xfrm>
          <a:custGeom>
            <a:avLst/>
            <a:gdLst/>
            <a:ahLst/>
            <a:cxnLst/>
            <a:rect r="r" b="b" t="t" l="l"/>
            <a:pathLst>
              <a:path h="6215368" w="6755835">
                <a:moveTo>
                  <a:pt x="0" y="6215368"/>
                </a:moveTo>
                <a:lnTo>
                  <a:pt x="6755835" y="6215368"/>
                </a:lnTo>
                <a:lnTo>
                  <a:pt x="6755835" y="0"/>
                </a:lnTo>
                <a:lnTo>
                  <a:pt x="0" y="0"/>
                </a:lnTo>
                <a:lnTo>
                  <a:pt x="0" y="621536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27681"/>
            <a:ext cx="6197104" cy="2104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3"/>
              </a:lnSpc>
            </a:pPr>
            <a:r>
              <a:rPr lang="en-US" sz="605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MOTIVOS DE</a:t>
            </a:r>
            <a:r>
              <a:rPr lang="en-US" sz="6059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 </a:t>
            </a:r>
            <a:r>
              <a:rPr lang="en-US" sz="605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LOS </a:t>
            </a:r>
            <a:r>
              <a:rPr lang="en-US" sz="6059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CAMBIOS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34717"/>
            <a:ext cx="14948216" cy="496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55"/>
              </a:lnSpc>
            </a:pPr>
            <a:r>
              <a:rPr lang="en-US" sz="25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Inicialmente planificamos 9 sprints de dos semanas (18 semanas en total). Durante la ejecución detectamos que las estimaciones eran insuficientes y las tareas no estaban bien descritas, por lo que reestructuramos el plan: ahora son 8 sprints con tareas más específicas. </a:t>
            </a:r>
          </a:p>
          <a:p>
            <a:pPr algn="just">
              <a:lnSpc>
                <a:spcPts val="3055"/>
              </a:lnSpc>
            </a:pPr>
          </a:p>
          <a:p>
            <a:pPr algn="just">
              <a:lnSpc>
                <a:spcPts val="3055"/>
              </a:lnSpc>
            </a:pPr>
            <a:r>
              <a:rPr lang="en-US" sz="25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La planificación se mantiene iterativa y flexible.</a:t>
            </a:r>
          </a:p>
          <a:p>
            <a:pPr algn="just">
              <a:lnSpc>
                <a:spcPts val="3055"/>
              </a:lnSpc>
            </a:pPr>
          </a:p>
          <a:p>
            <a:pPr algn="just" marL="549684" indent="-274842" lvl="1">
              <a:lnSpc>
                <a:spcPts val="3055"/>
              </a:lnSpc>
              <a:buFont typeface="Arial"/>
              <a:buChar char="•"/>
            </a:pPr>
            <a:r>
              <a:rPr lang="en-US" b="true" sz="254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Desglose de tareas mejorado:</a:t>
            </a:r>
            <a:r>
              <a:rPr lang="en-US" sz="25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cada tarea quedó bien definida, con criterios de aceptación y responsables.</a:t>
            </a:r>
          </a:p>
          <a:p>
            <a:pPr algn="just" marL="549684" indent="-274842" lvl="1">
              <a:lnSpc>
                <a:spcPts val="3055"/>
              </a:lnSpc>
              <a:buFont typeface="Arial"/>
              <a:buChar char="•"/>
            </a:pPr>
            <a:r>
              <a:rPr lang="en-US" b="true" sz="254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Sprint dedicado a IA:</a:t>
            </a:r>
            <a:r>
              <a:rPr lang="en-US" sz="25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concentramos el componente de IA en un sprint específico para reducir dependencias y riesgos.</a:t>
            </a:r>
          </a:p>
          <a:p>
            <a:pPr algn="just" marL="549684" indent="-274842" lvl="1">
              <a:lnSpc>
                <a:spcPts val="3055"/>
              </a:lnSpc>
              <a:buFont typeface="Arial"/>
              <a:buChar char="•"/>
            </a:pPr>
            <a:r>
              <a:rPr lang="en-US" b="true" sz="254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Ajuste de tiempos por sprint:</a:t>
            </a:r>
            <a:r>
              <a:rPr lang="en-US" sz="25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reequilibramos duración y carga, dado que el tiempo era la principal limitación.</a:t>
            </a:r>
          </a:p>
          <a:p>
            <a:pPr algn="just">
              <a:lnSpc>
                <a:spcPts val="305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0708" y="2026940"/>
            <a:ext cx="16266584" cy="7767294"/>
          </a:xfrm>
          <a:custGeom>
            <a:avLst/>
            <a:gdLst/>
            <a:ahLst/>
            <a:cxnLst/>
            <a:rect r="r" b="b" t="t" l="l"/>
            <a:pathLst>
              <a:path h="7767294" w="16266584">
                <a:moveTo>
                  <a:pt x="0" y="0"/>
                </a:moveTo>
                <a:lnTo>
                  <a:pt x="16266584" y="0"/>
                </a:lnTo>
                <a:lnTo>
                  <a:pt x="16266584" y="7767294"/>
                </a:lnTo>
                <a:lnTo>
                  <a:pt x="0" y="7767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10708" y="807990"/>
            <a:ext cx="7143873" cy="242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ARQUITECTURA </a:t>
            </a:r>
            <a:r>
              <a:rPr lang="en-US" sz="6999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ACTUAL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840743" y="-864380"/>
            <a:ext cx="7136751" cy="6084080"/>
          </a:xfrm>
          <a:custGeom>
            <a:avLst/>
            <a:gdLst/>
            <a:ahLst/>
            <a:cxnLst/>
            <a:rect r="r" b="b" t="t" l="l"/>
            <a:pathLst>
              <a:path h="6084080" w="7136751">
                <a:moveTo>
                  <a:pt x="7136750" y="0"/>
                </a:moveTo>
                <a:lnTo>
                  <a:pt x="0" y="0"/>
                </a:lnTo>
                <a:lnTo>
                  <a:pt x="0" y="6084080"/>
                </a:lnTo>
                <a:lnTo>
                  <a:pt x="7136750" y="6084080"/>
                </a:lnTo>
                <a:lnTo>
                  <a:pt x="713675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123756" y="4806305"/>
            <a:ext cx="6755835" cy="6215368"/>
          </a:xfrm>
          <a:custGeom>
            <a:avLst/>
            <a:gdLst/>
            <a:ahLst/>
            <a:cxnLst/>
            <a:rect r="r" b="b" t="t" l="l"/>
            <a:pathLst>
              <a:path h="6215368" w="6755835">
                <a:moveTo>
                  <a:pt x="0" y="6215368"/>
                </a:moveTo>
                <a:lnTo>
                  <a:pt x="6755835" y="6215368"/>
                </a:lnTo>
                <a:lnTo>
                  <a:pt x="6755835" y="0"/>
                </a:lnTo>
                <a:lnTo>
                  <a:pt x="0" y="0"/>
                </a:lnTo>
                <a:lnTo>
                  <a:pt x="0" y="621536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2981" y="2641756"/>
            <a:ext cx="569508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DE RIESGOS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2981" y="1581306"/>
            <a:ext cx="7158571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PLAN DE GESTIÓN</a:t>
            </a:r>
          </a:p>
        </p:txBody>
      </p:sp>
      <p:sp>
        <p:nvSpPr>
          <p:cNvPr name="Freeform 7" id="7">
            <a:hlinkClick r:id="rId8" tooltip="https://docs.google.com/spreadsheets/d/1dq_yfulMgezDSpcSp7AbHHFe6PWV7UFL/edit?usp=sharing&amp;ouid=116751535093923099521&amp;rtpof=true&amp;sd=true"/>
          </p:cNvPr>
          <p:cNvSpPr/>
          <p:nvPr/>
        </p:nvSpPr>
        <p:spPr>
          <a:xfrm flipH="false" flipV="false" rot="0">
            <a:off x="10754671" y="3175106"/>
            <a:ext cx="5806362" cy="5806362"/>
          </a:xfrm>
          <a:custGeom>
            <a:avLst/>
            <a:gdLst/>
            <a:ahLst/>
            <a:cxnLst/>
            <a:rect r="r" b="b" t="t" l="l"/>
            <a:pathLst>
              <a:path h="5806362" w="5806362">
                <a:moveTo>
                  <a:pt x="0" y="0"/>
                </a:moveTo>
                <a:lnTo>
                  <a:pt x="5806363" y="0"/>
                </a:lnTo>
                <a:lnTo>
                  <a:pt x="5806363" y="5806362"/>
                </a:lnTo>
                <a:lnTo>
                  <a:pt x="0" y="5806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02981" y="4965325"/>
            <a:ext cx="6022791" cy="242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PLAN DE </a:t>
            </a:r>
          </a:p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RESPUESTA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28700" y="4574452"/>
            <a:ext cx="723285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840743" y="-864380"/>
            <a:ext cx="7136751" cy="6084080"/>
          </a:xfrm>
          <a:custGeom>
            <a:avLst/>
            <a:gdLst/>
            <a:ahLst/>
            <a:cxnLst/>
            <a:rect r="r" b="b" t="t" l="l"/>
            <a:pathLst>
              <a:path h="6084080" w="7136751">
                <a:moveTo>
                  <a:pt x="7136750" y="0"/>
                </a:moveTo>
                <a:lnTo>
                  <a:pt x="0" y="0"/>
                </a:lnTo>
                <a:lnTo>
                  <a:pt x="0" y="6084080"/>
                </a:lnTo>
                <a:lnTo>
                  <a:pt x="7136750" y="6084080"/>
                </a:lnTo>
                <a:lnTo>
                  <a:pt x="713675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2605" y="1292950"/>
            <a:ext cx="569508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DE NEGOCIO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2605" y="232499"/>
            <a:ext cx="7158571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MODELO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7615" y="3640859"/>
            <a:ext cx="17492770" cy="601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51"/>
              </a:lnSpc>
              <a:spcBef>
                <a:spcPct val="0"/>
              </a:spcBef>
            </a:pPr>
            <a:r>
              <a:rPr lang="en-US" b="true" sz="2179">
                <a:solidFill>
                  <a:srgbClr val="FF2525"/>
                </a:solidFill>
                <a:latin typeface="Aileron Bold"/>
                <a:ea typeface="Aileron Bold"/>
                <a:cs typeface="Aileron Bold"/>
                <a:sym typeface="Aileron Bold"/>
              </a:rPr>
              <a:t>CLIENTE OBJETIVO</a:t>
            </a:r>
          </a:p>
          <a:p>
            <a:pPr algn="just" marL="423918" indent="-211959" lvl="1">
              <a:lnSpc>
                <a:spcPts val="27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6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ENTRENADORES DE POWERLIFTING QUE GESTIONAN ENTRE 3 Y 15 ATLETAS Y BUSCAN OPTIMIZAR SU TIEMPO Y MEJORAR RESULTADOS.</a:t>
            </a:r>
          </a:p>
          <a:p>
            <a:pPr algn="just">
              <a:lnSpc>
                <a:spcPts val="3051"/>
              </a:lnSpc>
              <a:spcBef>
                <a:spcPct val="0"/>
              </a:spcBef>
            </a:pPr>
          </a:p>
          <a:p>
            <a:pPr algn="just">
              <a:lnSpc>
                <a:spcPts val="3051"/>
              </a:lnSpc>
              <a:spcBef>
                <a:spcPct val="0"/>
              </a:spcBef>
            </a:pPr>
            <a:r>
              <a:rPr lang="en-US" b="true" sz="2179">
                <a:solidFill>
                  <a:srgbClr val="FF2525"/>
                </a:solidFill>
                <a:latin typeface="Aileron Bold"/>
                <a:ea typeface="Aileron Bold"/>
                <a:cs typeface="Aileron Bold"/>
                <a:sym typeface="Aileron Bold"/>
              </a:rPr>
              <a:t>PROPUESTA DE VALOR</a:t>
            </a:r>
          </a:p>
          <a:p>
            <a:pPr algn="just" marL="423918" indent="-211959" lvl="1">
              <a:lnSpc>
                <a:spcPts val="27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6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MENOS EXCEL, MÁS COACHING: REEMPLAZA PLANILLAS MANUALES CON FLUJOS SIMPLES Y REUTILIZABLES.</a:t>
            </a:r>
          </a:p>
          <a:p>
            <a:pPr algn="just" marL="423918" indent="-211959" lvl="1">
              <a:lnSpc>
                <a:spcPts val="27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6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IA ASISTIDA PARA EL DÍA A DÍA: EL ATLETA COMPLETA UN BREVE CHECK-IN (FATIGA, DOLOR, ENERGÍA) Y LA IA RECOMIENDA CARGAS/AJUSTES SEGUROS.</a:t>
            </a:r>
          </a:p>
          <a:p>
            <a:pPr algn="just">
              <a:lnSpc>
                <a:spcPts val="3051"/>
              </a:lnSpc>
              <a:spcBef>
                <a:spcPct val="0"/>
              </a:spcBef>
            </a:pPr>
          </a:p>
          <a:p>
            <a:pPr algn="just">
              <a:lnSpc>
                <a:spcPts val="3051"/>
              </a:lnSpc>
              <a:spcBef>
                <a:spcPct val="0"/>
              </a:spcBef>
            </a:pPr>
            <a:r>
              <a:rPr lang="en-US" b="true" sz="2179">
                <a:solidFill>
                  <a:srgbClr val="FF2525"/>
                </a:solidFill>
                <a:latin typeface="Aileron Bold"/>
                <a:ea typeface="Aileron Bold"/>
                <a:cs typeface="Aileron Bold"/>
                <a:sym typeface="Aileron Bold"/>
              </a:rPr>
              <a:t>MONETIZACIÓN - (APROXIMACIONES)</a:t>
            </a:r>
          </a:p>
          <a:p>
            <a:pPr algn="just" marL="423918" indent="-211959" lvl="1">
              <a:lnSpc>
                <a:spcPts val="27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6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PLAN COACH 5 (HASTA 5 ATLETAS): $15.990 CLP/MES.</a:t>
            </a:r>
          </a:p>
          <a:p>
            <a:pPr algn="just" marL="423918" indent="-211959" lvl="1">
              <a:lnSpc>
                <a:spcPts val="27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6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PLAN COACH 10 (HASTA 10 ATLETAS): $25.990 CLP/MES.</a:t>
            </a:r>
          </a:p>
          <a:p>
            <a:pPr algn="just" marL="423918" indent="-211959" lvl="1">
              <a:lnSpc>
                <a:spcPts val="27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6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EN BETA: FOCO EN RETENCIÓN Y FEEDBACK; EXPANSIÓN A PLANES MAYORES SEGÚN DEMANDA.</a:t>
            </a:r>
          </a:p>
          <a:p>
            <a:pPr algn="just">
              <a:lnSpc>
                <a:spcPts val="2748"/>
              </a:lnSpc>
              <a:spcBef>
                <a:spcPct val="0"/>
              </a:spcBef>
            </a:pPr>
          </a:p>
          <a:p>
            <a:pPr algn="just">
              <a:lnSpc>
                <a:spcPts val="3051"/>
              </a:lnSpc>
              <a:spcBef>
                <a:spcPct val="0"/>
              </a:spcBef>
            </a:pPr>
            <a:r>
              <a:rPr lang="en-US" b="true" sz="2179">
                <a:solidFill>
                  <a:srgbClr val="FF2525"/>
                </a:solidFill>
                <a:latin typeface="Aileron Bold"/>
                <a:ea typeface="Aileron Bold"/>
                <a:cs typeface="Aileron Bold"/>
                <a:sym typeface="Aileron Bold"/>
              </a:rPr>
              <a:t>CÓMO GANAMOS TIEMPO AL COACH</a:t>
            </a:r>
          </a:p>
          <a:p>
            <a:pPr algn="just" marL="423918" indent="-211959" lvl="1">
              <a:lnSpc>
                <a:spcPts val="27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6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CREACIÓN DE BLOQUES EN MINUTOS, NO HORAS.</a:t>
            </a:r>
          </a:p>
          <a:p>
            <a:pPr algn="just" marL="423918" indent="-211959" lvl="1">
              <a:lnSpc>
                <a:spcPts val="27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96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AJUSTES AUTOMÁTICOS DIARIOS SEGÚN SENSACIONES DEL ATLETA.</a:t>
            </a:r>
          </a:p>
          <a:p>
            <a:pPr algn="l">
              <a:lnSpc>
                <a:spcPts val="27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4002" r="0" b="0"/>
          <a:stretch>
            <a:fillRect/>
          </a:stretch>
        </p:blipFill>
        <p:spPr>
          <a:xfrm flipH="false" flipV="false" rot="0">
            <a:off x="519300" y="269696"/>
            <a:ext cx="4686452" cy="9747608"/>
          </a:xfrm>
          <a:prstGeom prst="rect">
            <a:avLst/>
          </a:prstGeom>
          <a:ln w="38100" cap="sq">
            <a:solidFill>
              <a:srgbClr val="FFFFFF"/>
            </a:solidFill>
            <a:prstDash val="solid"/>
          </a:ln>
        </p:spPr>
      </p:pic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4642" r="0" b="0"/>
          <a:stretch>
            <a:fillRect/>
          </a:stretch>
        </p:blipFill>
        <p:spPr>
          <a:xfrm flipH="false" flipV="false" rot="0">
            <a:off x="13081207" y="269696"/>
            <a:ext cx="4717920" cy="9747608"/>
          </a:xfrm>
          <a:prstGeom prst="rect">
            <a:avLst/>
          </a:prstGeom>
          <a:ln w="38100" cap="sq">
            <a:solidFill>
              <a:srgbClr val="FFFFFF"/>
            </a:solidFill>
            <a:prstDash val="solid"/>
          </a:ln>
        </p:spPr>
      </p:pic>
      <p:sp>
        <p:nvSpPr>
          <p:cNvPr name="TextBox 5" id="5"/>
          <p:cNvSpPr txBox="true"/>
          <p:nvPr/>
        </p:nvSpPr>
        <p:spPr>
          <a:xfrm rot="0">
            <a:off x="5997368" y="4158867"/>
            <a:ext cx="6293263" cy="98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43"/>
              </a:lnSpc>
            </a:pPr>
            <a:r>
              <a:rPr lang="en-US" sz="5745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VIDEO </a:t>
            </a:r>
            <a:r>
              <a:rPr lang="en-US" sz="5745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AVANCE </a:t>
            </a:r>
            <a:r>
              <a:rPr lang="en-US" sz="5745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PLIFT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690925" y="-1277775"/>
            <a:ext cx="7136751" cy="6084080"/>
          </a:xfrm>
          <a:custGeom>
            <a:avLst/>
            <a:gdLst/>
            <a:ahLst/>
            <a:cxnLst/>
            <a:rect r="r" b="b" t="t" l="l"/>
            <a:pathLst>
              <a:path h="6084080" w="7136751">
                <a:moveTo>
                  <a:pt x="7136750" y="0"/>
                </a:moveTo>
                <a:lnTo>
                  <a:pt x="0" y="0"/>
                </a:lnTo>
                <a:lnTo>
                  <a:pt x="0" y="6084080"/>
                </a:lnTo>
                <a:lnTo>
                  <a:pt x="7136750" y="6084080"/>
                </a:lnTo>
                <a:lnTo>
                  <a:pt x="713675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123756" y="4806305"/>
            <a:ext cx="6755835" cy="6215368"/>
          </a:xfrm>
          <a:custGeom>
            <a:avLst/>
            <a:gdLst/>
            <a:ahLst/>
            <a:cxnLst/>
            <a:rect r="r" b="b" t="t" l="l"/>
            <a:pathLst>
              <a:path h="6215368" w="6755835">
                <a:moveTo>
                  <a:pt x="0" y="6215368"/>
                </a:moveTo>
                <a:lnTo>
                  <a:pt x="6755835" y="6215368"/>
                </a:lnTo>
                <a:lnTo>
                  <a:pt x="6755835" y="0"/>
                </a:lnTo>
                <a:lnTo>
                  <a:pt x="0" y="0"/>
                </a:lnTo>
                <a:lnTo>
                  <a:pt x="0" y="621536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38523" y="7913989"/>
            <a:ext cx="4698954" cy="5455970"/>
          </a:xfrm>
          <a:custGeom>
            <a:avLst/>
            <a:gdLst/>
            <a:ahLst/>
            <a:cxnLst/>
            <a:rect r="r" b="b" t="t" l="l"/>
            <a:pathLst>
              <a:path h="5455970" w="4698954">
                <a:moveTo>
                  <a:pt x="0" y="0"/>
                </a:moveTo>
                <a:lnTo>
                  <a:pt x="4698954" y="0"/>
                </a:lnTo>
                <a:lnTo>
                  <a:pt x="4698954" y="5455970"/>
                </a:lnTo>
                <a:lnTo>
                  <a:pt x="0" y="54559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9890" y="290134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64598" y="3555634"/>
            <a:ext cx="6773925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7"/>
              </a:lnSpc>
            </a:pPr>
            <a:r>
              <a:rPr lang="en-US" sz="2464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Durante los últimos sprints el desarrollo de la aplicación PLift mostró un progreso significativo. Esto fue posible gracias a una mejor comprensión de los tiempos y del flujo de trabajo, lo que permitió ajustar la planificación y optimizar el desarrollo de las funcionalidades restantes. Estos cambios reflejan una mayor madurez del equipo en la gestión del proyecto y un acercamiento más eficiente hacia la versión final del producto.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71223" y="904875"/>
            <a:ext cx="4692753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CONCLUSIÓN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27254" y="9492469"/>
            <a:ext cx="8269787" cy="581773"/>
            <a:chOff x="0" y="0"/>
            <a:chExt cx="1693959" cy="1191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3959" cy="119169"/>
            </a:xfrm>
            <a:custGeom>
              <a:avLst/>
              <a:gdLst/>
              <a:ahLst/>
              <a:cxnLst/>
              <a:rect r="r" b="b" t="t" l="l"/>
              <a:pathLst>
                <a:path h="119169" w="1693959">
                  <a:moveTo>
                    <a:pt x="1490759" y="0"/>
                  </a:moveTo>
                  <a:lnTo>
                    <a:pt x="0" y="0"/>
                  </a:lnTo>
                  <a:lnTo>
                    <a:pt x="203200" y="119169"/>
                  </a:lnTo>
                  <a:lnTo>
                    <a:pt x="1693959" y="119169"/>
                  </a:lnTo>
                  <a:lnTo>
                    <a:pt x="1490759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2525">
                    <a:alpha val="100000"/>
                  </a:srgbClr>
                </a:gs>
                <a:gs pos="100000">
                  <a:srgbClr val="59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1490759" cy="157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1377632" y="-268490"/>
            <a:ext cx="7136751" cy="6084080"/>
          </a:xfrm>
          <a:custGeom>
            <a:avLst/>
            <a:gdLst/>
            <a:ahLst/>
            <a:cxnLst/>
            <a:rect r="r" b="b" t="t" l="l"/>
            <a:pathLst>
              <a:path h="6084080" w="7136751">
                <a:moveTo>
                  <a:pt x="7136750" y="0"/>
                </a:moveTo>
                <a:lnTo>
                  <a:pt x="0" y="0"/>
                </a:lnTo>
                <a:lnTo>
                  <a:pt x="0" y="6084079"/>
                </a:lnTo>
                <a:lnTo>
                  <a:pt x="7136750" y="6084079"/>
                </a:lnTo>
                <a:lnTo>
                  <a:pt x="713675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5184742" y="5579102"/>
            <a:ext cx="576936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true" flipV="true" rot="0">
            <a:off x="8976770" y="4639641"/>
            <a:ext cx="6755835" cy="6215368"/>
          </a:xfrm>
          <a:custGeom>
            <a:avLst/>
            <a:gdLst/>
            <a:ahLst/>
            <a:cxnLst/>
            <a:rect r="r" b="b" t="t" l="l"/>
            <a:pathLst>
              <a:path h="6215368" w="6755835">
                <a:moveTo>
                  <a:pt x="6755835" y="6215368"/>
                </a:moveTo>
                <a:lnTo>
                  <a:pt x="0" y="6215368"/>
                </a:lnTo>
                <a:lnTo>
                  <a:pt x="0" y="0"/>
                </a:lnTo>
                <a:lnTo>
                  <a:pt x="6755835" y="0"/>
                </a:lnTo>
                <a:lnTo>
                  <a:pt x="6755835" y="621536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613415" y="4834070"/>
            <a:ext cx="7349169" cy="8551761"/>
            <a:chOff x="0" y="0"/>
            <a:chExt cx="6985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2525">
                    <a:alpha val="100000"/>
                  </a:srgbClr>
                </a:gs>
                <a:gs pos="100000">
                  <a:srgbClr val="59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10131" y="867620"/>
            <a:ext cx="7349169" cy="8551761"/>
            <a:chOff x="0" y="0"/>
            <a:chExt cx="6985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2525">
                    <a:alpha val="100000"/>
                  </a:srgbClr>
                </a:gs>
                <a:gs pos="100000">
                  <a:srgbClr val="59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184742" y="5486633"/>
            <a:ext cx="184939" cy="18493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602374" y="5486633"/>
            <a:ext cx="184939" cy="18493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252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307276" y="5486633"/>
            <a:ext cx="184939" cy="18493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52069" y="173841"/>
            <a:ext cx="3471508" cy="854859"/>
          </a:xfrm>
          <a:custGeom>
            <a:avLst/>
            <a:gdLst/>
            <a:ahLst/>
            <a:cxnLst/>
            <a:rect r="r" b="b" t="t" l="l"/>
            <a:pathLst>
              <a:path h="854859" w="3471508">
                <a:moveTo>
                  <a:pt x="0" y="0"/>
                </a:moveTo>
                <a:lnTo>
                  <a:pt x="3471508" y="0"/>
                </a:lnTo>
                <a:lnTo>
                  <a:pt x="3471508" y="854859"/>
                </a:lnTo>
                <a:lnTo>
                  <a:pt x="0" y="8548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3593510"/>
            <a:ext cx="7595757" cy="154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2"/>
              </a:lnSpc>
            </a:pPr>
            <a:r>
              <a:rPr lang="en-US" sz="9101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PLIFT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2045265"/>
            <a:ext cx="7595757" cy="155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2"/>
              </a:lnSpc>
            </a:pPr>
            <a:r>
              <a:rPr lang="en-US" sz="9101" b="true">
                <a:solidFill>
                  <a:srgbClr val="FF2525"/>
                </a:solidFill>
                <a:latin typeface="Oswald Bold"/>
                <a:ea typeface="Oswald Bold"/>
                <a:cs typeface="Oswald Bold"/>
                <a:sym typeface="Oswald Bold"/>
              </a:rPr>
              <a:t>PROYECTO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242532" y="2045265"/>
            <a:ext cx="1874244" cy="155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2"/>
              </a:lnSpc>
            </a:pPr>
            <a:r>
              <a:rPr lang="en-US" sz="9101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APT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2084" y="6172342"/>
            <a:ext cx="4637596" cy="339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1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</a:t>
            </a:r>
            <a:r>
              <a:rPr lang="en-US" sz="2146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ntegrantes: </a:t>
            </a:r>
          </a:p>
          <a:p>
            <a:pPr algn="l" marL="463347" indent="-231673" lvl="1">
              <a:lnSpc>
                <a:spcPts val="3004"/>
              </a:lnSpc>
              <a:buFont typeface="Arial"/>
              <a:buChar char="•"/>
            </a:pPr>
            <a:r>
              <a:rPr lang="en-US" sz="21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Alonso Barrera Silva</a:t>
            </a:r>
          </a:p>
          <a:p>
            <a:pPr algn="l" marL="463347" indent="-231673" lvl="1">
              <a:lnSpc>
                <a:spcPts val="3004"/>
              </a:lnSpc>
              <a:buFont typeface="Arial"/>
              <a:buChar char="•"/>
            </a:pPr>
            <a:r>
              <a:rPr lang="en-US" sz="21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Germán Macías Hernández </a:t>
            </a:r>
          </a:p>
          <a:p>
            <a:pPr algn="l" marL="463347" indent="-231673" lvl="1">
              <a:lnSpc>
                <a:spcPts val="3004"/>
              </a:lnSpc>
              <a:buFont typeface="Arial"/>
              <a:buChar char="•"/>
            </a:pPr>
            <a:r>
              <a:rPr lang="en-US" sz="21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Matías Muñoz Lillo</a:t>
            </a:r>
          </a:p>
          <a:p>
            <a:pPr algn="l" marL="463347" indent="-231673" lvl="1">
              <a:lnSpc>
                <a:spcPts val="3004"/>
              </a:lnSpc>
              <a:buFont typeface="Arial"/>
              <a:buChar char="•"/>
            </a:pPr>
            <a:r>
              <a:rPr lang="en-US" sz="21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Danae Venegas Maldonado</a:t>
            </a:r>
          </a:p>
          <a:p>
            <a:pPr algn="l">
              <a:lnSpc>
                <a:spcPts val="3004"/>
              </a:lnSpc>
            </a:pPr>
          </a:p>
          <a:p>
            <a:pPr algn="l">
              <a:lnSpc>
                <a:spcPts val="3004"/>
              </a:lnSpc>
            </a:pPr>
            <a:r>
              <a:rPr lang="en-US" sz="2146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Profesor:</a:t>
            </a:r>
          </a:p>
          <a:p>
            <a:pPr algn="l" marL="463347" indent="-231673" lvl="1">
              <a:lnSpc>
                <a:spcPts val="3004"/>
              </a:lnSpc>
              <a:buFont typeface="Arial"/>
              <a:buChar char="•"/>
            </a:pPr>
            <a:r>
              <a:rPr lang="en-US" sz="21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Aldo Martínez Ordenes</a:t>
            </a:r>
          </a:p>
          <a:p>
            <a:pPr algn="l">
              <a:lnSpc>
                <a:spcPts val="2724"/>
              </a:lnSpc>
            </a:pP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568965" y="1127750"/>
            <a:ext cx="8031500" cy="8031500"/>
          </a:xfrm>
          <a:custGeom>
            <a:avLst/>
            <a:gdLst/>
            <a:ahLst/>
            <a:cxnLst/>
            <a:rect r="r" b="b" t="t" l="l"/>
            <a:pathLst>
              <a:path h="8031500" w="8031500">
                <a:moveTo>
                  <a:pt x="0" y="0"/>
                </a:moveTo>
                <a:lnTo>
                  <a:pt x="8031500" y="0"/>
                </a:lnTo>
                <a:lnTo>
                  <a:pt x="8031500" y="8031500"/>
                </a:lnTo>
                <a:lnTo>
                  <a:pt x="0" y="8031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DAG13jAUElg</dc:identifier>
  <dcterms:modified xsi:type="dcterms:W3CDTF">2011-08-01T06:04:30Z</dcterms:modified>
  <cp:revision>1</cp:revision>
  <dc:title>Presentación Capstone 2</dc:title>
</cp:coreProperties>
</file>